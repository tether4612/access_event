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19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02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7200" y="1016000"/>
            <a:ext cx="3302000" cy="762000"/>
          </a:xfrm>
          <a:prstGeom prst="roundRect">
            <a:avLst>
              <a:gd name="adj" fmla="val 16667"/>
            </a:avLst>
          </a:prstGeom>
          <a:solidFill>
            <a:srgbClr val="5EEAD4"/>
          </a:solidFill>
          <a:ln/>
        </p:spPr>
      </p:sp>
      <p:sp>
        <p:nvSpPr>
          <p:cNvPr id="3" name="Shape 1"/>
          <p:cNvSpPr/>
          <p:nvPr/>
        </p:nvSpPr>
        <p:spPr>
          <a:xfrm>
            <a:off x="8077200" y="2032000"/>
            <a:ext cx="3302000" cy="762000"/>
          </a:xfrm>
          <a:prstGeom prst="roundRect">
            <a:avLst>
              <a:gd name="adj" fmla="val 16667"/>
            </a:avLst>
          </a:prstGeom>
          <a:solidFill>
            <a:srgbClr val="F5B301"/>
          </a:solidFill>
          <a:ln/>
        </p:spPr>
      </p:sp>
      <p:sp>
        <p:nvSpPr>
          <p:cNvPr id="4" name="Shape 2"/>
          <p:cNvSpPr/>
          <p:nvPr/>
        </p:nvSpPr>
        <p:spPr>
          <a:xfrm>
            <a:off x="8077200" y="3048000"/>
            <a:ext cx="3302000" cy="762000"/>
          </a:xfrm>
          <a:prstGeom prst="roundRect">
            <a:avLst>
              <a:gd name="adj" fmla="val 16667"/>
            </a:avLst>
          </a:prstGeom>
          <a:solidFill>
            <a:srgbClr val="8FB8FF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B3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Учебная практика • ПМ.05 • 09.02.07</a:t>
            </a:r>
            <a:endParaRPr lang="en-US" sz="15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2528987"/>
            <a:ext cx="7194550" cy="1025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7500" b="1" i="0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AccessEvent</a:t>
            </a:r>
            <a:endParaRPr lang="en-US" sz="7500" dirty="0"/>
          </a:p>
        </p:txBody>
      </p:sp>
      <p:sp>
        <p:nvSpPr>
          <p:cNvPr id="7" name="Text 5"/>
          <p:cNvSpPr/>
          <p:nvPr/>
        </p:nvSpPr>
        <p:spPr>
          <a:xfrm>
            <a:off x="812800" y="3681512"/>
            <a:ext cx="7264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5EEAD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Инклюзивная платформа мероприятий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12800" y="55575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</a:t>
            </a:r>
            <a:r>
              <a:rPr lang="ru-RU" sz="1600" dirty="0" err="1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Слабинский</a:t>
            </a:r>
            <a:r>
              <a:rPr lang="ru-RU" sz="16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Владислав Игоревич</a:t>
            </a:r>
            <a:r>
              <a:rPr lang="en-US" sz="16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] • </a:t>
            </a:r>
            <a:r>
              <a:rPr lang="en-US" sz="1600" dirty="0" err="1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группа</a:t>
            </a:r>
            <a:r>
              <a:rPr lang="en-US" sz="16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[23</a:t>
            </a:r>
            <a:r>
              <a:rPr lang="ru-RU" sz="16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ИС-25</a:t>
            </a:r>
            <a:r>
              <a:rPr lang="en-US" sz="16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] • </a:t>
            </a:r>
            <a:r>
              <a:rPr lang="en-US" sz="1600" dirty="0" err="1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руководитель</a:t>
            </a:r>
            <a:r>
              <a:rPr lang="en-US" sz="16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[</a:t>
            </a:r>
            <a:r>
              <a:rPr lang="ru-RU" sz="1600" dirty="0" err="1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Фралова</a:t>
            </a:r>
            <a:r>
              <a:rPr lang="ru-RU" sz="16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Кира Алексеевна</a:t>
            </a:r>
            <a:r>
              <a:rPr lang="en-US" sz="16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Проблема и цель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725216"/>
            <a:ext cx="5124450" cy="2477691"/>
          </a:xfrm>
          <a:prstGeom prst="roundRect">
            <a:avLst>
              <a:gd name="adj" fmla="val 6023"/>
            </a:avLst>
          </a:prstGeom>
          <a:solidFill>
            <a:srgbClr val="FFFDF8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4750" y="2083991"/>
            <a:ext cx="45391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Проблема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74750" y="2541191"/>
            <a:ext cx="4539107" cy="132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00" dirty="0">
                <a:solidFill>
                  <a:srgbClr val="1421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Обычные платформы мероприятий опираются на звук и голосовой контакт. Для людей с нарушениями слуха они бесполезны.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51575" y="1725216"/>
            <a:ext cx="5124450" cy="2477691"/>
          </a:xfrm>
          <a:prstGeom prst="roundRect">
            <a:avLst>
              <a:gd name="adj" fmla="val 6023"/>
            </a:avLst>
          </a:prstGeom>
          <a:solidFill>
            <a:srgbClr val="FFFDF8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10350" y="2083991"/>
            <a:ext cx="45391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B72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Цель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10350" y="2541191"/>
            <a:ext cx="4539107" cy="132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00" dirty="0">
                <a:solidFill>
                  <a:srgbClr val="1421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Платформа, где всё важное передаётся визуально: цветные уведомления, текстовый чат, индикация статусов.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Требования и стейкхолдеры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722041"/>
            <a:ext cx="3318867" cy="3068241"/>
          </a:xfrm>
          <a:prstGeom prst="roundRect">
            <a:avLst>
              <a:gd name="adj" fmla="val 4967"/>
            </a:avLst>
          </a:prstGeom>
          <a:solidFill>
            <a:srgbClr val="1A3145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2026841"/>
            <a:ext cx="27905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5EEAD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1117600" y="2992041"/>
            <a:ext cx="2790545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функциональных требований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36467" y="1722041"/>
            <a:ext cx="3318966" cy="3068241"/>
          </a:xfrm>
          <a:prstGeom prst="roundRect">
            <a:avLst>
              <a:gd name="adj" fmla="val 4967"/>
            </a:avLst>
          </a:prstGeom>
          <a:solidFill>
            <a:srgbClr val="1A3145"/>
          </a:solidFill>
          <a:ln/>
        </p:spPr>
      </p:sp>
      <p:sp>
        <p:nvSpPr>
          <p:cNvPr id="7" name="Text 5"/>
          <p:cNvSpPr/>
          <p:nvPr/>
        </p:nvSpPr>
        <p:spPr>
          <a:xfrm>
            <a:off x="4741267" y="2026841"/>
            <a:ext cx="27906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5B3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4741267" y="2992041"/>
            <a:ext cx="2790647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нефункциональных требований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60234" y="1722041"/>
            <a:ext cx="3318966" cy="3068241"/>
          </a:xfrm>
          <a:prstGeom prst="roundRect">
            <a:avLst>
              <a:gd name="adj" fmla="val 4967"/>
            </a:avLst>
          </a:prstGeom>
          <a:solidFill>
            <a:srgbClr val="1A3145"/>
          </a:solidFill>
          <a:ln/>
        </p:spPr>
      </p:sp>
      <p:sp>
        <p:nvSpPr>
          <p:cNvPr id="10" name="Text 8"/>
          <p:cNvSpPr/>
          <p:nvPr/>
        </p:nvSpPr>
        <p:spPr>
          <a:xfrm>
            <a:off x="8365034" y="2026841"/>
            <a:ext cx="2790647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5000" b="1" dirty="0">
                <a:solidFill>
                  <a:srgbClr val="8F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WCAG 2.1 AA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365034" y="3881041"/>
            <a:ext cx="2790647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стандарт доступности интерфейса (NFR-04)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2800" y="5196681"/>
            <a:ext cx="1088339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Главный стейкхолдер: участник с нарушением слуха. Его потребности описаны в User Stories (docs/requirements.md).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Архитектура и база данных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999456"/>
            <a:ext cx="3011091" cy="1520031"/>
          </a:xfrm>
          <a:prstGeom prst="roundRect">
            <a:avLst>
              <a:gd name="adj" fmla="val 9817"/>
            </a:avLst>
          </a:prstGeom>
          <a:solidFill>
            <a:srgbClr val="FFFDF8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550" y="2282031"/>
            <a:ext cx="251931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B72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Клиент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8550" y="2688431"/>
            <a:ext cx="2519319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421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HTML, CSS, JavaScript, шаблоны Jinja2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33441" y="2475012"/>
            <a:ext cx="42076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90455" y="1999456"/>
            <a:ext cx="3011091" cy="1520031"/>
          </a:xfrm>
          <a:prstGeom prst="roundRect">
            <a:avLst>
              <a:gd name="adj" fmla="val 9817"/>
            </a:avLst>
          </a:prstGeom>
          <a:solidFill>
            <a:srgbClr val="FFFDF8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3030" y="2282031"/>
            <a:ext cx="251931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B72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Сервер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73030" y="2688431"/>
            <a:ext cx="2519319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421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Flask, бизнес-логика, JWT-авторизация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07920" y="2475012"/>
            <a:ext cx="42076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8364934" y="1725216"/>
            <a:ext cx="3011091" cy="2068513"/>
          </a:xfrm>
          <a:prstGeom prst="roundRect">
            <a:avLst>
              <a:gd name="adj" fmla="val 7214"/>
            </a:avLst>
          </a:prstGeom>
          <a:solidFill>
            <a:srgbClr val="FFFDF8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7509" y="2007791"/>
            <a:ext cx="251931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B72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Данные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47509" y="2414191"/>
            <a:ext cx="2519319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421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PostgreSQL, 8 таблиц: users, events, registrations, notifications…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4203303"/>
            <a:ext cx="10883392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421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Роли: guest → user → organizer → admin. Пароли хешируются, запросы защищены от SQL-инъекций через ORM.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Демонстрация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9150" y="1677591"/>
            <a:ext cx="2476500" cy="2146300"/>
          </a:xfrm>
          <a:prstGeom prst="roundRect">
            <a:avLst>
              <a:gd name="adj" fmla="val 5621"/>
            </a:avLst>
          </a:prstGeom>
          <a:solidFill>
            <a:srgbClr val="1A3145"/>
          </a:solidFill>
          <a:ln w="12700">
            <a:solidFill>
              <a:srgbClr val="5EEAD4"/>
            </a:solidFill>
            <a:prstDash val="dash"/>
          </a:ln>
        </p:spPr>
        <p:txBody>
          <a:bodyPr wrap="square" lIns="123413" tIns="123413" rIns="58643" bIns="123413" rtlCol="0" anchor="ctr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Скриншот 02_register_org.png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3957241"/>
            <a:ext cx="256387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 Регистрация организатора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11550" y="1677591"/>
            <a:ext cx="2476500" cy="2146300"/>
          </a:xfrm>
          <a:prstGeom prst="roundRect">
            <a:avLst>
              <a:gd name="adj" fmla="val 5621"/>
            </a:avLst>
          </a:prstGeom>
          <a:solidFill>
            <a:srgbClr val="1A3145"/>
          </a:solidFill>
          <a:ln w="12700">
            <a:solidFill>
              <a:srgbClr val="5EEAD4"/>
            </a:solidFill>
            <a:prstDash val="dash"/>
          </a:ln>
        </p:spPr>
        <p:txBody>
          <a:bodyPr wrap="square" lIns="123413" tIns="123413" rIns="58643" bIns="123413" rtlCol="0" anchor="ctr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Скриншот 03_create_event.png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05200" y="3957241"/>
            <a:ext cx="256387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 Инклюзивное мероприятие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03950" y="1677591"/>
            <a:ext cx="2476500" cy="2146300"/>
          </a:xfrm>
          <a:prstGeom prst="roundRect">
            <a:avLst>
              <a:gd name="adj" fmla="val 5621"/>
            </a:avLst>
          </a:prstGeom>
          <a:solidFill>
            <a:srgbClr val="1A3145"/>
          </a:solidFill>
          <a:ln w="12700">
            <a:solidFill>
              <a:srgbClr val="F5B301"/>
            </a:solidFill>
            <a:prstDash val="dash"/>
          </a:ln>
        </p:spPr>
        <p:txBody>
          <a:bodyPr wrap="square" lIns="123413" tIns="123413" rIns="58643" bIns="123413" rtlCol="0" anchor="ctr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Скриншот 05_registration.png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97600" y="3957241"/>
            <a:ext cx="256387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 Статус pending (жёлтый)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6350" y="1677591"/>
            <a:ext cx="2476500" cy="2146300"/>
          </a:xfrm>
          <a:prstGeom prst="roundRect">
            <a:avLst>
              <a:gd name="adj" fmla="val 5621"/>
            </a:avLst>
          </a:prstGeom>
          <a:solidFill>
            <a:srgbClr val="1A3145"/>
          </a:solidFill>
          <a:ln w="12700">
            <a:solidFill>
              <a:srgbClr val="8FB8FF"/>
            </a:solidFill>
            <a:prstDash val="dash"/>
          </a:ln>
        </p:spPr>
        <p:txBody>
          <a:bodyPr wrap="square" lIns="123413" tIns="123413" rIns="123413" bIns="123413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Скриншот 06_chat.png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0000" y="3957241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 Текстовый чат</a:t>
            </a:r>
            <a:endParaRPr lang="en-US" sz="16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24507FE-67E6-2F9A-F0C7-6D3908DCA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709817"/>
            <a:ext cx="2476500" cy="211407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CB0CB0C-65D0-FA84-0FC0-E31F14696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7" y="1661478"/>
            <a:ext cx="2354666" cy="21463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636CFDF-BEF7-7AC6-4FFD-DCC5AF7116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1661477"/>
            <a:ext cx="2411563" cy="222903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E96AC86-773A-470E-6BBC-DCF6CB2B2A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8057" y="1677591"/>
            <a:ext cx="2454794" cy="2146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Тестирование и качество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725216"/>
            <a:ext cx="3312517" cy="2422922"/>
          </a:xfrm>
          <a:prstGeom prst="roundRect">
            <a:avLst>
              <a:gd name="adj" fmla="val 6159"/>
            </a:avLst>
          </a:prstGeom>
          <a:solidFill>
            <a:srgbClr val="FFFDF8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2033191"/>
            <a:ext cx="2777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0B72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1123950" y="2998391"/>
            <a:ext cx="2777464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421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тестов pytest, все проходят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39642" y="1725216"/>
            <a:ext cx="3312616" cy="2422922"/>
          </a:xfrm>
          <a:prstGeom prst="roundRect">
            <a:avLst>
              <a:gd name="adj" fmla="val 6159"/>
            </a:avLst>
          </a:prstGeom>
          <a:solidFill>
            <a:srgbClr val="FFFDF8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47617" y="2033191"/>
            <a:ext cx="27775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4747617" y="2998391"/>
            <a:ext cx="2777566" cy="867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421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дефекта найдено: 2 исправлены, 1 в bug_reports.md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63409" y="1725216"/>
            <a:ext cx="3312616" cy="2422922"/>
          </a:xfrm>
          <a:prstGeom prst="roundRect">
            <a:avLst>
              <a:gd name="adj" fmla="val 6159"/>
            </a:avLst>
          </a:prstGeom>
          <a:solidFill>
            <a:srgbClr val="FFFDF8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71384" y="2033191"/>
            <a:ext cx="27775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1580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5/5</a:t>
            </a:r>
            <a:endParaRPr lang="en-US" sz="7000" dirty="0"/>
          </a:p>
        </p:txBody>
      </p:sp>
      <p:sp>
        <p:nvSpPr>
          <p:cNvPr id="11" name="Text 9"/>
          <p:cNvSpPr/>
          <p:nvPr/>
        </p:nvSpPr>
        <p:spPr>
          <a:xfrm>
            <a:off x="8371384" y="2998391"/>
            <a:ext cx="277756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421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проверок GitHub Actions зелёные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Оценка и итоги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241"/>
            <a:ext cx="3386634" cy="1772642"/>
          </a:xfrm>
          <a:prstGeom prst="roundRect">
            <a:avLst>
              <a:gd name="adj" fmla="val 8597"/>
            </a:avLst>
          </a:prstGeom>
          <a:solidFill>
            <a:srgbClr val="1A3145"/>
          </a:solidFill>
          <a:ln/>
        </p:spPr>
      </p:sp>
      <p:sp>
        <p:nvSpPr>
          <p:cNvPr id="4" name="Text 2"/>
          <p:cNvSpPr/>
          <p:nvPr/>
        </p:nvSpPr>
        <p:spPr>
          <a:xfrm>
            <a:off x="1092200" y="1950641"/>
            <a:ext cx="291266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5EEAD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Сильные стороны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92200" y="2341761"/>
            <a:ext cx="2912669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Полная инклюзивность, автоматизация через CI/CD, контейнеризация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2634" y="1671241"/>
            <a:ext cx="3386733" cy="1772642"/>
          </a:xfrm>
          <a:prstGeom prst="roundRect">
            <a:avLst>
              <a:gd name="adj" fmla="val 8597"/>
            </a:avLst>
          </a:prstGeom>
          <a:solidFill>
            <a:srgbClr val="1A3145"/>
          </a:solidFill>
          <a:ln/>
        </p:spPr>
      </p:sp>
      <p:sp>
        <p:nvSpPr>
          <p:cNvPr id="7" name="Text 5"/>
          <p:cNvSpPr/>
          <p:nvPr/>
        </p:nvSpPr>
        <p:spPr>
          <a:xfrm>
            <a:off x="4682034" y="1950641"/>
            <a:ext cx="291277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B3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Слабые стороны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82034" y="2341761"/>
            <a:ext cx="2912771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Нет push-уведомлений и мобильного приложения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92566" y="1671241"/>
            <a:ext cx="3386634" cy="1772642"/>
          </a:xfrm>
          <a:prstGeom prst="roundRect">
            <a:avLst>
              <a:gd name="adj" fmla="val 8597"/>
            </a:avLst>
          </a:prstGeom>
          <a:solidFill>
            <a:srgbClr val="1A3145"/>
          </a:solidFill>
          <a:ln/>
        </p:spPr>
      </p:sp>
      <p:sp>
        <p:nvSpPr>
          <p:cNvPr id="10" name="Text 8"/>
          <p:cNvSpPr/>
          <p:nvPr/>
        </p:nvSpPr>
        <p:spPr>
          <a:xfrm>
            <a:off x="8271966" y="1950641"/>
            <a:ext cx="291266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8F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Развитие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71966" y="2341761"/>
            <a:ext cx="2912669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Push-уведомления, ИИ-субтитры для видео, интеграция с календарями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3799483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C9D3D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Репозиторий: github.com/Tether4612/access_event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B10915-A609-3A4C-0073-1F8C140F2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35" y="992914"/>
            <a:ext cx="4143953" cy="41820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BC652C-BB53-2A76-B22C-17A6A55B2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189" y="1862292"/>
            <a:ext cx="5696745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6178"/>
      </p:ext>
    </p:extLst>
  </p:cSld>
  <p:clrMapOvr>
    <a:masterClrMapping/>
  </p:clrMapOvr>
</p:sld>
</file>

<file path=ppt/theme/theme1.xml><?xml version="1.0" encoding="utf-8"?>
<a:theme xmlns:a="http://schemas.openxmlformats.org/drawingml/2006/main" name="AccessEvent — инклюзивная платформа мероприятий">
  <a:themeElements>
    <a:clrScheme name="AccessEvent — инклюзивная платформа мероприятий">
      <a:dk1>
        <a:srgbClr val="10202F"/>
      </a:dk1>
      <a:lt1>
        <a:srgbClr val="F6F4EF"/>
      </a:lt1>
      <a:dk2>
        <a:srgbClr val="273542"/>
      </a:dk2>
      <a:lt2>
        <a:srgbClr val="BDBFBF"/>
      </a:lt2>
      <a:accent1>
        <a:srgbClr val="0B7285"/>
      </a:accent1>
      <a:accent2>
        <a:srgbClr val="5EEAD4"/>
      </a:accent2>
      <a:accent3>
        <a:srgbClr val="F5B301"/>
      </a:accent3>
      <a:accent4>
        <a:srgbClr val="B45309"/>
      </a:accent4>
      <a:accent5>
        <a:srgbClr val="8FB8FF"/>
      </a:accent5>
      <a:accent6>
        <a:srgbClr val="15803D"/>
      </a:accent6>
      <a:hlink>
        <a:srgbClr val="0563C1"/>
      </a:hlink>
      <a:folHlink>
        <a:srgbClr val="954F72"/>
      </a:folHlink>
    </a:clrScheme>
    <a:fontScheme name="AccessEvent — инклюзивная платформа мероприятий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290</Words>
  <Application>Microsoft Office PowerPoint</Application>
  <PresentationFormat>Широкоэкранный</PresentationFormat>
  <Paragraphs>58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Manrope</vt:lpstr>
      <vt:lpstr>AccessEvent — инклюзивная платформа мероприятий</vt:lpstr>
      <vt:lpstr>AccessEvent</vt:lpstr>
      <vt:lpstr>Проблема и цель</vt:lpstr>
      <vt:lpstr>Требования и стейкхолдеры</vt:lpstr>
      <vt:lpstr>Архитектура и база данных</vt:lpstr>
      <vt:lpstr>Демонстрация</vt:lpstr>
      <vt:lpstr>Тестирование и качество</vt:lpstr>
      <vt:lpstr>Оценка и итоги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AccessEvent — инклюзивная платформа мероприятий</dc:title>
  <dc:subject/>
  <dc:creator>Student_2</dc:creator>
  <cp:lastModifiedBy>Student_2</cp:lastModifiedBy>
  <cp:revision>2</cp:revision>
  <dcterms:created xsi:type="dcterms:W3CDTF">2026-10-16T05:55:19Z</dcterms:created>
  <dcterms:modified xsi:type="dcterms:W3CDTF">2026-10-16T08:11:44Z</dcterms:modified>
</cp:coreProperties>
</file>